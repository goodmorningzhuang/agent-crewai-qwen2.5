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2" r:id="rId3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4" userDrawn="1">
          <p15:clr>
            <a:srgbClr val="A4A3A4"/>
          </p15:clr>
        </p15:guide>
        <p15:guide id="2" pos="12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776"/>
    <a:srgbClr val="5A9FCF"/>
    <a:srgbClr val="1D72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0" autoAdjust="0"/>
    <p:restoredTop sz="93923" autoAdjust="0"/>
  </p:normalViewPr>
  <p:slideViewPr>
    <p:cSldViewPr snapToGrid="0" showGuides="1">
      <p:cViewPr varScale="1">
        <p:scale>
          <a:sx n="110" d="100"/>
          <a:sy n="110" d="100"/>
        </p:scale>
        <p:origin x="534" y="354"/>
      </p:cViewPr>
      <p:guideLst>
        <p:guide orient="horz" pos="1614"/>
        <p:guide pos="12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ABA7B-9EDF-46FF-8B8F-94327800FA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A3A3-2188-464F-9072-FE8FD80D17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image" Target="../media/image1.png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image" Target="../media/image2.png"/><Relationship Id="rId8" Type="http://schemas.openxmlformats.org/officeDocument/2006/relationships/tags" Target="../tags/tag6.xml"/><Relationship Id="rId9" Type="http://schemas.openxmlformats.org/officeDocument/2006/relationships/image" Target="../media/image3.png"/><Relationship Id="rId10" Type="http://schemas.openxmlformats.org/officeDocument/2006/relationships/tags" Target="../tags/tag7.xml"/><Relationship Id="rId11" Type="http://schemas.openxmlformats.org/officeDocument/2006/relationships/tags" Target="../tags/tag8.xml"/><Relationship Id="rId12" Type="http://schemas.openxmlformats.org/officeDocument/2006/relationships/tags" Target="../tags/tag9.xml"/><Relationship Id="rId13" Type="http://schemas.openxmlformats.org/officeDocument/2006/relationships/tags" Target="../tags/tag10.xml"/><Relationship Id="rId14" Type="http://schemas.openxmlformats.org/officeDocument/2006/relationships/tags" Target="../tags/tag11.xml"/><Relationship Id="rId15" Type="http://schemas.openxmlformats.org/officeDocument/2006/relationships/tags" Target="../tags/tag12.xml"/><Relationship Id="rId16" Type="http://schemas.openxmlformats.org/officeDocument/2006/relationships/tags" Target="../tags/tag13.xml"/><Relationship Id="rId17" Type="http://schemas.openxmlformats.org/officeDocument/2006/relationships/tags" Target="../tags/tag14.xml"/><Relationship Id="rId18" Type="http://schemas.openxmlformats.org/officeDocument/2006/relationships/tags" Target="../tags/tag15.xml"/><Relationship Id="rId19" Type="http://schemas.openxmlformats.org/officeDocument/2006/relationships/tags" Target="../tags/tag16.xml"/><Relationship Id="rId20" Type="http://schemas.openxmlformats.org/officeDocument/2006/relationships/tags" Target="../tags/tag17.xml"/><Relationship Id="rId21" Type="http://schemas.openxmlformats.org/officeDocument/2006/relationships/tags" Target="../tags/tag18.xml"/><Relationship Id="rId22" Type="http://schemas.openxmlformats.org/officeDocument/2006/relationships/tags" Target="../tags/tag19.xml"/><Relationship Id="rId23" Type="http://schemas.openxmlformats.org/officeDocument/2006/relationships/tags" Target="../tags/tag20.xml"/><Relationship Id="rId24" Type="http://schemas.openxmlformats.org/officeDocument/2006/relationships/tags" Target="../tags/tag21.xml"/><Relationship Id="rId25" Type="http://schemas.openxmlformats.org/officeDocument/2006/relationships/tags" Target="../tags/tag22.xml"/><Relationship Id="rId26" Type="http://schemas.openxmlformats.org/officeDocument/2006/relationships/tags" Target="../tags/tag23.xml"/><Relationship Id="rId27" Type="http://schemas.openxmlformats.org/officeDocument/2006/relationships/tags" Target="../tags/tag24.xml"/><Relationship Id="rId28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矩形 3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pic>
        <p:nvPicPr>
          <p:cNvPr id="5" name="PA_图片 2" descr="F:\案例二\394\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3" cstate="print"/>
          <a:srcRect l="-20264"/>
          <a:stretch>
            <a:fillRect/>
          </a:stretch>
        </p:blipFill>
        <p:spPr bwMode="auto">
          <a:xfrm rot="21214532" flipH="1">
            <a:off x="-435985" y="-197304"/>
            <a:ext cx="2442770" cy="1580922"/>
          </a:xfrm>
          <a:prstGeom prst="rect">
            <a:avLst/>
          </a:prstGeom>
          <a:noFill/>
          <a:effectLst>
            <a:outerShdw blurRad="342900" dist="1397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PA_组合 8"/>
          <p:cNvGrpSpPr/>
          <p:nvPr>
            <p:custDataLst>
              <p:tags r:id="rId4"/>
            </p:custDataLst>
          </p:nvPr>
        </p:nvGrpSpPr>
        <p:grpSpPr>
          <a:xfrm>
            <a:off x="273534" y="260272"/>
            <a:ext cx="598948" cy="598948"/>
            <a:chOff x="2494238" y="1545926"/>
            <a:chExt cx="1170130" cy="1170130"/>
          </a:xfrm>
        </p:grpSpPr>
        <p:sp>
          <p:nvSpPr>
            <p:cNvPr id="10" name="椭圆 9"/>
            <p:cNvSpPr/>
            <p:nvPr/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PA_矩形 13"/>
          <p:cNvSpPr/>
          <p:nvPr>
            <p:custDataLst>
              <p:tags r:id="rId5"/>
            </p:custDataLst>
          </p:nvPr>
        </p:nvSpPr>
        <p:spPr>
          <a:xfrm>
            <a:off x="964268" y="362324"/>
            <a:ext cx="34308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r>
              <a:rPr lang="zh-CN" altLang="en-US" sz="24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排配</a:t>
            </a:r>
            <a:endParaRPr lang="zh-CN" altLang="en-US" sz="24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A_图片 2" descr="F:\案例二\394\1.png"/>
          <p:cNvPicPr preferRelativeResize="0">
            <a:picLocks noChangeArrowheads="1"/>
          </p:cNvPicPr>
          <p:nvPr>
            <p:custDataLst>
              <p:tags r:id="rId6"/>
            </p:custDataLst>
          </p:nvPr>
        </p:nvPicPr>
        <p:blipFill rotWithShape="1">
          <a:blip r:embed="rId7" cstate="print"/>
          <a:srcRect/>
          <a:stretch>
            <a:fillRect/>
          </a:stretch>
        </p:blipFill>
        <p:spPr bwMode="auto">
          <a:xfrm>
            <a:off x="0" y="5107500"/>
            <a:ext cx="9144000" cy="54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A_图片 4" descr="G:\稻壳儿\5\miracomunicazione\shadow3.pn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 flipV="1">
            <a:off x="0" y="4733924"/>
            <a:ext cx="9144000" cy="37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PA_任意多边形 71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464420" y="458013"/>
            <a:ext cx="217173" cy="203464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4358" tIns="62179" rIns="124358" bIns="62179" numCol="1" anchor="t" anchorCtr="0" compatLnSpc="1"/>
          <a:lstStyle/>
          <a:p>
            <a:endParaRPr lang="en-US"/>
          </a:p>
        </p:txBody>
      </p:sp>
      <p:sp>
        <p:nvSpPr>
          <p:cNvPr id="38" name="PA_椭圆 37"/>
          <p:cNvSpPr/>
          <p:nvPr>
            <p:custDataLst>
              <p:tags r:id="rId11"/>
            </p:custDataLst>
          </p:nvPr>
        </p:nvSpPr>
        <p:spPr>
          <a:xfrm>
            <a:off x="114057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PA_椭圆 38"/>
          <p:cNvSpPr/>
          <p:nvPr>
            <p:custDataLst>
              <p:tags r:id="rId12"/>
            </p:custDataLst>
          </p:nvPr>
        </p:nvSpPr>
        <p:spPr>
          <a:xfrm>
            <a:off x="3151202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PA_椭圆 39"/>
          <p:cNvSpPr/>
          <p:nvPr>
            <p:custDataLst>
              <p:tags r:id="rId13"/>
            </p:custDataLst>
          </p:nvPr>
        </p:nvSpPr>
        <p:spPr>
          <a:xfrm>
            <a:off x="5161829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PA_椭圆 40"/>
          <p:cNvSpPr/>
          <p:nvPr>
            <p:custDataLst>
              <p:tags r:id="rId14"/>
            </p:custDataLst>
          </p:nvPr>
        </p:nvSpPr>
        <p:spPr>
          <a:xfrm>
            <a:off x="717245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PA_TextPlaceholder 32"/>
          <p:cNvSpPr txBox="1"/>
          <p:nvPr>
            <p:custDataLst>
              <p:tags r:id="rId15"/>
            </p:custDataLst>
          </p:nvPr>
        </p:nvSpPr>
        <p:spPr>
          <a:xfrm>
            <a:off x="825500" y="3209925"/>
            <a:ext cx="1545590" cy="870585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defRPr sz="800">
                <a:latin typeface="微软雅黑"/>
              </a:defRPr>
            </a:pPr>
            <a:r>
              <a:t>负责关键器件选型验证测试（电池 、PMU、CHARGER、GAUGE等）及协助硬件开发进行主板底层测试（PI、SI等）</a:t>
            </a:r>
          </a:p>
        </p:txBody>
      </p:sp>
      <p:sp>
        <p:nvSpPr>
          <p:cNvPr id="47" name="PA_TextPlaceholder 33"/>
          <p:cNvSpPr txBox="1"/>
          <p:nvPr>
            <p:custDataLst>
              <p:tags r:id="rId16"/>
            </p:custDataLst>
          </p:nvPr>
        </p:nvSpPr>
        <p:spPr>
          <a:xfrm>
            <a:off x="825188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A1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48" name="PA_TextPlaceholder 32"/>
          <p:cNvSpPr txBox="1"/>
          <p:nvPr>
            <p:custDataLst>
              <p:tags r:id="rId17"/>
            </p:custDataLst>
          </p:nvPr>
        </p:nvSpPr>
        <p:spPr>
          <a:xfrm>
            <a:off x="2833370" y="3209925"/>
            <a:ext cx="1545590" cy="875665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defRPr sz="1000">
                <a:latin typeface="微软雅黑"/>
              </a:defRPr>
            </a:pPr>
            <a:r>
              <a:t>负责整机功能性能测试及可靠性测试，跟进外发测试（ESD、EMI及各种认证测试）</a:t>
            </a:r>
          </a:p>
        </p:txBody>
      </p:sp>
      <p:sp>
        <p:nvSpPr>
          <p:cNvPr id="49" name="PA_TextPlaceholder 33"/>
          <p:cNvSpPr txBox="1"/>
          <p:nvPr>
            <p:custDataLst>
              <p:tags r:id="rId18"/>
            </p:custDataLst>
          </p:nvPr>
        </p:nvSpPr>
        <p:spPr>
          <a:xfrm>
            <a:off x="2833607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A2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50" name="PA_TextPlaceholder 32"/>
          <p:cNvSpPr txBox="1"/>
          <p:nvPr>
            <p:custDataLst>
              <p:tags r:id="rId19"/>
            </p:custDataLst>
          </p:nvPr>
        </p:nvSpPr>
        <p:spPr>
          <a:xfrm>
            <a:off x="4850130" y="3209925"/>
            <a:ext cx="1545590" cy="765175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defRPr sz="1400">
                <a:latin typeface="微软雅黑"/>
              </a:defRPr>
            </a:pPr>
            <a:r>
              <a:t>负责嵌入式软件测试（软件功能及稳定性，程序逻辑测试）</a:t>
            </a:r>
          </a:p>
        </p:txBody>
      </p:sp>
      <p:sp>
        <p:nvSpPr>
          <p:cNvPr id="52" name="PA_TextPlaceholder 33"/>
          <p:cNvSpPr txBox="1"/>
          <p:nvPr>
            <p:custDataLst>
              <p:tags r:id="rId20"/>
            </p:custDataLst>
          </p:nvPr>
        </p:nvSpPr>
        <p:spPr>
          <a:xfrm>
            <a:off x="4849964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软件测试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B1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2" name="PA_TextPlaceholder 32"/>
          <p:cNvSpPr txBox="1"/>
          <p:nvPr>
            <p:custDataLst>
              <p:tags r:id="rId21"/>
            </p:custDataLst>
          </p:nvPr>
        </p:nvSpPr>
        <p:spPr>
          <a:xfrm>
            <a:off x="6858383" y="3209906"/>
            <a:ext cx="1545494" cy="1032501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defRPr sz="1400">
                <a:latin typeface="微软雅黑"/>
              </a:defRPr>
            </a:pPr>
            <a:r>
              <a:t>负责调测产线治具及上位机调试，考虑是否与NPI职能为一体</a:t>
            </a:r>
          </a:p>
        </p:txBody>
      </p:sp>
      <p:sp>
        <p:nvSpPr>
          <p:cNvPr id="63" name="PA_TextPlaceholder 33"/>
          <p:cNvSpPr txBox="1"/>
          <p:nvPr>
            <p:custDataLst>
              <p:tags r:id="rId22"/>
            </p:custDataLst>
          </p:nvPr>
        </p:nvSpPr>
        <p:spPr>
          <a:xfrm>
            <a:off x="6858383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硬件产线测试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C1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5" name="PA_任意多边形 7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142722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PA_任意多边形 7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343953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3" name="PA_任意多边形 7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545185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6" name="PA_任意多边形 7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746416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" name="PA_TextPlaceholder 32"/>
          <p:cNvSpPr txBox="1"/>
          <p:nvPr>
            <p:custDataLst>
              <p:tags r:id="rId27"/>
            </p:custDataLst>
          </p:nvPr>
        </p:nvSpPr>
        <p:spPr>
          <a:xfrm>
            <a:off x="681355" y="4306570"/>
            <a:ext cx="4902835" cy="427355"/>
          </a:xfrm>
          <a:prstGeom prst="rect">
            <a:avLst/>
          </a:prstGeom>
        </p:spPr>
        <p:txBody>
          <a:bodyPr lIns="0" tIns="0" rIns="0" bIns="0" anchor="ctr" anchorCtr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defRPr sz="1000">
                <a:latin typeface="微软雅黑"/>
              </a:defRPr>
            </a:pPr>
            <a:r>
              <a:t>测试人员招聘需求：硬件测试*2，嵌入式软件测试*1，产线测试/NPI*1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4" grpId="0"/>
      <p:bldP spid="29" grpId="0" bldLvl="0" animBg="1" autoUpdateAnimBg="0"/>
      <p:bldP spid="38" grpId="0" bldLvl="0" animBg="1" autoUpdateAnimBg="0"/>
      <p:bldP spid="39" grpId="0" bldLvl="0" animBg="1" autoUpdateAnimBg="0"/>
      <p:bldP spid="40" grpId="0" bldLvl="0" animBg="1" autoUpdateAnimBg="0"/>
      <p:bldP spid="41" grpId="0" bldLvl="0" animBg="1" autoUpdateAnimBg="0"/>
      <p:bldP spid="42" grpId="0" animBg="1" autoUpdateAnimBg="0"/>
      <p:bldP spid="47" grpId="0"/>
      <p:bldP spid="48" grpId="0"/>
      <p:bldP spid="49" grpId="0"/>
      <p:bldP spid="50" grpId="0"/>
      <p:bldP spid="52" grpId="0"/>
      <p:bldP spid="62" grpId="0"/>
      <p:bldP spid="63" grpId="0"/>
      <p:bldP spid="65" grpId="0" bldLvl="0" animBg="1"/>
      <p:bldP spid="2" grpId="0" bldLvl="0" animBg="1"/>
      <p:bldP spid="3" grpId="0" bldLvl="0" animBg="1"/>
      <p:bldP spid="6" grpId="0" bldLvl="0" animBg="1"/>
      <p:bldP spid="7" grpId="0" animBg="1" autoUpdateAnimBg="0"/>
    </p:bld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5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6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7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8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WPS 演示</Application>
  <PresentationFormat>全屏显示(16:9)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Open Sans Light</vt:lpstr>
      <vt:lpstr>Times New Roman</vt:lpstr>
      <vt:lpstr>Neris Thin</vt:lpstr>
      <vt:lpstr>Segoe Print</vt:lpstr>
      <vt:lpstr>Roboto light</vt:lpstr>
      <vt:lpstr>Roboto medium</vt:lpstr>
      <vt:lpstr>Calibri</vt:lpstr>
      <vt:lpstr>Arial Unicode MS</vt:lpstr>
      <vt:lpstr>Calibri Light</vt:lpstr>
      <vt:lpstr>Office 主题</vt:lpstr>
      <vt:lpstr>PowerPoint 演示文稿</vt:lpstr>
    </vt:vector>
  </TitlesOfParts>
  <Company>CHENYING0907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我是个胖子</cp:lastModifiedBy>
  <cp:revision>73</cp:revision>
  <dcterms:created xsi:type="dcterms:W3CDTF">2015-05-05T08:02:00Z</dcterms:created>
  <dcterms:modified xsi:type="dcterms:W3CDTF">2026-05-07T02:57:27Z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F197F4D93E264962B9A51D2742F5F1F6_12</vt:lpwstr>
  </property>
</Properties>
</file>